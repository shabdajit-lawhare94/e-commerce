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handoutMasterIdLst>
    <p:handoutMasterId r:id="rId15"/>
  </p:handoutMasterIdLst>
  <p:sldIdLst>
    <p:sldId id="268" r:id="rId2"/>
    <p:sldId id="258" r:id="rId3"/>
    <p:sldId id="269" r:id="rId4"/>
    <p:sldId id="270" r:id="rId5"/>
    <p:sldId id="271" r:id="rId6"/>
    <p:sldId id="272" r:id="rId7"/>
    <p:sldId id="286" r:id="rId8"/>
    <p:sldId id="273" r:id="rId9"/>
    <p:sldId id="274" r:id="rId10"/>
    <p:sldId id="275" r:id="rId11"/>
    <p:sldId id="278" r:id="rId12"/>
    <p:sldId id="28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DA0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70" d="100"/>
          <a:sy n="70" d="100"/>
        </p:scale>
        <p:origin x="738" y="60"/>
      </p:cViewPr>
      <p:guideLst>
        <p:guide orient="horz" pos="2160"/>
        <p:guide pos="3840"/>
      </p:guideLst>
    </p:cSldViewPr>
  </p:slideViewPr>
  <p:notesTextViewPr>
    <p:cViewPr>
      <p:scale>
        <a:sx n="1" d="1"/>
        <a:sy n="1" d="1"/>
      </p:scale>
      <p:origin x="0" y="0"/>
    </p:cViewPr>
  </p:notesTextViewPr>
  <p:notesViewPr>
    <p:cSldViewPr snapToGrid="0" showGuides="1">
      <p:cViewPr varScale="1">
        <p:scale>
          <a:sx n="95" d="100"/>
          <a:sy n="95" d="100"/>
        </p:scale>
        <p:origin x="3582"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bdajit Lawhare" userId="fa046fccee11a1d6" providerId="LiveId" clId="{578BB07B-52C1-4DA4-A58E-03D162CFC0C6}"/>
    <pc:docChg chg="custSel modSld">
      <pc:chgData name="Shabdajit Lawhare" userId="fa046fccee11a1d6" providerId="LiveId" clId="{578BB07B-52C1-4DA4-A58E-03D162CFC0C6}" dt="2025-11-14T16:45:18.319" v="2" actId="20577"/>
      <pc:docMkLst>
        <pc:docMk/>
      </pc:docMkLst>
      <pc:sldChg chg="modSp mod">
        <pc:chgData name="Shabdajit Lawhare" userId="fa046fccee11a1d6" providerId="LiveId" clId="{578BB07B-52C1-4DA4-A58E-03D162CFC0C6}" dt="2025-11-14T16:45:18.319" v="2" actId="20577"/>
        <pc:sldMkLst>
          <pc:docMk/>
          <pc:sldMk cId="2370110780" sldId="268"/>
        </pc:sldMkLst>
        <pc:spChg chg="mod">
          <ac:chgData name="Shabdajit Lawhare" userId="fa046fccee11a1d6" providerId="LiveId" clId="{578BB07B-52C1-4DA4-A58E-03D162CFC0C6}" dt="2025-11-14T16:45:18.319" v="2" actId="20577"/>
          <ac:spMkLst>
            <pc:docMk/>
            <pc:sldMk cId="2370110780" sldId="268"/>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6F93605-0C0C-4258-9724-5F2F9BB3BC90}" type="datetimeFigureOut">
              <a:rPr lang="en-US" smtClean="0"/>
              <a:t>11/14/2025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63FFE7F-C917-439A-8026-3D301EB5CC28}" type="slidenum">
              <a:rPr lang="en-US" smtClean="0"/>
              <a:t>‹#›</a:t>
            </a:fld>
            <a:endParaRPr lang="en-US"/>
          </a:p>
        </p:txBody>
      </p:sp>
    </p:spTree>
    <p:extLst>
      <p:ext uri="{BB962C8B-B14F-4D97-AF65-F5344CB8AC3E}">
        <p14:creationId xmlns:p14="http://schemas.microsoft.com/office/powerpoint/2010/main" val="7527998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F31B3D-E4E3-4A80-AB70-C5564C267266}" type="datetimeFigureOut">
              <a:rPr lang="en-US" smtClean="0"/>
              <a:t>11/14/2025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C0B30D-C07A-425B-A90C-BA7BEB191079}" type="slidenum">
              <a:rPr lang="en-US" smtClean="0"/>
              <a:t>‹#›</a:t>
            </a:fld>
            <a:endParaRPr lang="en-US"/>
          </a:p>
        </p:txBody>
      </p:sp>
    </p:spTree>
    <p:extLst>
      <p:ext uri="{BB962C8B-B14F-4D97-AF65-F5344CB8AC3E}">
        <p14:creationId xmlns:p14="http://schemas.microsoft.com/office/powerpoint/2010/main" val="37231904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56669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CC0096-1860-4642-9CD2-0079EA5E7CD1}" type="datetimeFigureOut">
              <a:rPr lang="en-US" smtClean="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93616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677215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7CC0096-1860-4642-9CD2-0079EA5E7CD1}" type="datetimeFigureOut">
              <a:rPr lang="en-US" smtClean="0"/>
              <a:t>11/14/2025</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302538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7CC0096-1860-4642-9CD2-0079EA5E7CD1}" type="datetimeFigureOut">
              <a:rPr lang="en-US" smtClean="0"/>
              <a:t>11/14/2025</a:t>
            </a:fld>
            <a:endParaRPr lang="en-US" dirty="0"/>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258432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7CC0096-1860-4642-9CD2-0079EA5E7CD1}" type="datetimeFigureOut">
              <a:rPr lang="en-US" smtClean="0"/>
              <a:t>11/14/2025</a:t>
            </a:fld>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1586862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CC0096-1860-4642-9CD2-0079EA5E7CD1}" type="datetimeFigureOut">
              <a:rPr lang="en-US" smtClean="0"/>
              <a:t>11/14/2025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840770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CC0096-1860-4642-9CD2-0079EA5E7CD1}" type="datetimeFigureOut">
              <a:rPr lang="en-US" smtClean="0"/>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1011085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03183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CC0096-1860-4642-9CD2-0079EA5E7CD1}" type="datetimeFigureOut">
              <a:rPr lang="en-US" smtClean="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2637207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CC0096-1860-4642-9CD2-0079EA5E7CD1}" type="datetimeFigureOut">
              <a:rPr lang="en-US" smtClean="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31375A4-56A4-47D6-9801-1991572033F7}"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5829196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CC0096-1860-4642-9CD2-0079EA5E7CD1}" type="datetimeFigureOut">
              <a:rPr lang="en-US" smtClean="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39266433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CC0096-1860-4642-9CD2-0079EA5E7CD1}" type="datetimeFigureOut">
              <a:rPr lang="en-US" smtClean="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31375A4-56A4-47D6-9801-1991572033F7}"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608649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CC0096-1860-4642-9CD2-0079EA5E7CD1}" type="datetimeFigureOut">
              <a:rPr lang="en-US" smtClean="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24143249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CC0096-1860-4642-9CD2-0079EA5E7CD1}" type="datetimeFigureOut">
              <a:rPr lang="en-US" smtClean="0"/>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1684818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CC0096-1860-4642-9CD2-0079EA5E7CD1}" type="datetimeFigureOut">
              <a:rPr lang="en-US" smtClean="0"/>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817006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7CC0096-1860-4642-9CD2-0079EA5E7CD1}" type="datetimeFigureOut">
              <a:rPr lang="en-US" smtClean="0"/>
              <a:pPr/>
              <a:t>11/14/2025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38417254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419367"/>
            <a:ext cx="12192000" cy="1025255"/>
          </a:xfrm>
        </p:spPr>
        <p:txBody>
          <a:bodyPr>
            <a:noAutofit/>
          </a:bodyPr>
          <a:lstStyle/>
          <a:p>
            <a:pPr algn="ctr"/>
            <a:r>
              <a:rPr lang="en-IN" sz="4800" b="1" dirty="0">
                <a:solidFill>
                  <a:schemeClr val="tx1"/>
                </a:solidFill>
                <a:latin typeface="Algerian" panose="04020705040A02060702" pitchFamily="82" charset="0"/>
                <a:ea typeface="+mn-ea"/>
                <a:cs typeface="+mn-cs"/>
              </a:rPr>
              <a:t>OLIST STORE ANALYSIS</a:t>
            </a:r>
            <a:endParaRPr lang="en-US" sz="4800" b="1" dirty="0">
              <a:solidFill>
                <a:schemeClr val="tx1"/>
              </a:solidFill>
              <a:latin typeface="Algerian" panose="04020705040A02060702" pitchFamily="82" charset="0"/>
              <a:ea typeface="+mn-ea"/>
              <a:cs typeface="+mn-cs"/>
            </a:endParaRPr>
          </a:p>
        </p:txBody>
      </p:sp>
      <p:sp>
        <p:nvSpPr>
          <p:cNvPr id="3" name="Subtitle 2"/>
          <p:cNvSpPr>
            <a:spLocks noGrp="1"/>
          </p:cNvSpPr>
          <p:nvPr>
            <p:ph type="subTitle" idx="1"/>
          </p:nvPr>
        </p:nvSpPr>
        <p:spPr>
          <a:xfrm>
            <a:off x="150125" y="4292081"/>
            <a:ext cx="11846257" cy="2090057"/>
          </a:xfrm>
        </p:spPr>
        <p:txBody>
          <a:bodyPr>
            <a:normAutofit/>
          </a:bodyPr>
          <a:lstStyle/>
          <a:p>
            <a:pPr algn="l"/>
            <a:r>
              <a:rPr lang="en-US" sz="2800" b="1" dirty="0">
                <a:solidFill>
                  <a:schemeClr val="tx1"/>
                </a:solidFill>
                <a:latin typeface="Algerian" panose="04020705040A02060702" pitchFamily="82" charset="0"/>
              </a:rPr>
              <a:t>PRESENTED BY </a:t>
            </a:r>
          </a:p>
          <a:p>
            <a:pPr algn="l"/>
            <a:r>
              <a:rPr lang="en-US" sz="2800" b="1" dirty="0">
                <a:solidFill>
                  <a:schemeClr val="accent2"/>
                </a:solidFill>
              </a:rPr>
              <a:t>Shabdajit Lawhare</a:t>
            </a:r>
          </a:p>
          <a:p>
            <a:pPr algn="l"/>
            <a:endParaRPr lang="en-US" sz="2800" b="1" dirty="0">
              <a:solidFill>
                <a:schemeClr val="accent2"/>
              </a:solidFill>
            </a:endParaRPr>
          </a:p>
        </p:txBody>
      </p:sp>
    </p:spTree>
    <p:extLst>
      <p:ext uri="{BB962C8B-B14F-4D97-AF65-F5344CB8AC3E}">
        <p14:creationId xmlns:p14="http://schemas.microsoft.com/office/powerpoint/2010/main" val="2370110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457518"/>
            <a:ext cx="10058400" cy="820776"/>
          </a:xfrm>
        </p:spPr>
        <p:txBody>
          <a:bodyPr/>
          <a:lstStyle/>
          <a:p>
            <a:pPr algn="ctr"/>
            <a:r>
              <a:rPr lang="en-US" b="1" dirty="0"/>
              <a:t>INTRODUCTION</a:t>
            </a:r>
          </a:p>
        </p:txBody>
      </p:sp>
      <p:sp>
        <p:nvSpPr>
          <p:cNvPr id="3" name="Content Placeholder 2"/>
          <p:cNvSpPr>
            <a:spLocks noGrp="1"/>
          </p:cNvSpPr>
          <p:nvPr>
            <p:ph idx="1"/>
          </p:nvPr>
        </p:nvSpPr>
        <p:spPr>
          <a:xfrm>
            <a:off x="1001485" y="1587759"/>
            <a:ext cx="8811255" cy="4212539"/>
          </a:xfrm>
        </p:spPr>
        <p:txBody>
          <a:bodyPr>
            <a:normAutofit/>
          </a:bodyPr>
          <a:lstStyle/>
          <a:p>
            <a:pPr marL="0" indent="0" algn="just">
              <a:buNone/>
            </a:pPr>
            <a:r>
              <a:rPr lang="en-US" dirty="0"/>
              <a:t>	</a:t>
            </a:r>
            <a:r>
              <a:rPr lang="en-US" dirty="0" err="1"/>
              <a:t>Olist</a:t>
            </a:r>
            <a:r>
              <a:rPr lang="en-US" dirty="0"/>
              <a:t> is an e-commerce technology company that acts as a large marketplace connecting retailers to major online marketplaces, enabling businesses to increase their sales without needing their own e-commerce presence. By managing software, marketplace contracts, and logistics, </a:t>
            </a:r>
            <a:r>
              <a:rPr lang="en-US" dirty="0" err="1"/>
              <a:t>Olist</a:t>
            </a:r>
            <a:r>
              <a:rPr lang="en-US" dirty="0"/>
              <a:t> provides a platform for small and large businesses to reach more customers, utilizing customer satisfaction surveys and anonymized sales data for analysis and improvement. </a:t>
            </a:r>
          </a:p>
          <a:p>
            <a:pPr marL="0" indent="0" algn="just">
              <a:buNone/>
            </a:pPr>
            <a:endParaRPr lang="en-US" dirty="0"/>
          </a:p>
          <a:p>
            <a:pPr marL="0" indent="0" algn="just">
              <a:buNone/>
            </a:pPr>
            <a:r>
              <a:rPr lang="en-US" dirty="0"/>
              <a:t>	</a:t>
            </a:r>
            <a:r>
              <a:rPr lang="en-US" dirty="0" err="1"/>
              <a:t>Olist</a:t>
            </a:r>
            <a:r>
              <a:rPr lang="en-US" dirty="0"/>
              <a:t> offers a Software as a Service (SaaS) solution to retailers, providing them access to major Brazilian e-commerce platforms to sell their products. They manage the logistics for getting products from sellers to customers, streamlining the process for businesses. </a:t>
            </a:r>
            <a:r>
              <a:rPr lang="en-US" dirty="0" err="1"/>
              <a:t>Olist</a:t>
            </a:r>
            <a:r>
              <a:rPr lang="en-US" dirty="0"/>
              <a:t> acts as a large department store within the marketplaces, bringing together thousands of different sellers and their products. </a:t>
            </a:r>
            <a:r>
              <a:rPr lang="en-US" dirty="0" err="1"/>
              <a:t>Olist</a:t>
            </a:r>
            <a:r>
              <a:rPr lang="en-US" dirty="0"/>
              <a:t> collects customer satisfaction survey data after purchases, providing insights into the customer experience for sellers and for analyzing overall market trends. </a:t>
            </a:r>
          </a:p>
          <a:p>
            <a:pPr marL="0" indent="0">
              <a:buNone/>
            </a:pPr>
            <a:endParaRPr lang="en-US" dirty="0"/>
          </a:p>
        </p:txBody>
      </p:sp>
    </p:spTree>
    <p:extLst>
      <p:ext uri="{BB962C8B-B14F-4D97-AF65-F5344CB8AC3E}">
        <p14:creationId xmlns:p14="http://schemas.microsoft.com/office/powerpoint/2010/main" val="2253536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F000B-4754-5DE3-F9B4-215671521984}"/>
              </a:ext>
            </a:extLst>
          </p:cNvPr>
          <p:cNvSpPr>
            <a:spLocks noGrp="1"/>
          </p:cNvSpPr>
          <p:nvPr>
            <p:ph type="title"/>
          </p:nvPr>
        </p:nvSpPr>
        <p:spPr>
          <a:xfrm>
            <a:off x="1066800" y="457518"/>
            <a:ext cx="10058400" cy="727470"/>
          </a:xfrm>
        </p:spPr>
        <p:txBody>
          <a:bodyPr/>
          <a:lstStyle/>
          <a:p>
            <a:pPr algn="ctr"/>
            <a:r>
              <a:rPr lang="en-IN" b="1" dirty="0">
                <a:ea typeface="Calibri" panose="020F0502020204030204" pitchFamily="34" charset="0"/>
                <a:cs typeface="Calibri" panose="020F0502020204030204" pitchFamily="34" charset="0"/>
              </a:rPr>
              <a:t>OBJECTIVE</a:t>
            </a:r>
          </a:p>
        </p:txBody>
      </p:sp>
      <p:sp>
        <p:nvSpPr>
          <p:cNvPr id="3" name="Content Placeholder 2">
            <a:extLst>
              <a:ext uri="{FF2B5EF4-FFF2-40B4-BE49-F238E27FC236}">
                <a16:creationId xmlns:a16="http://schemas.microsoft.com/office/drawing/2014/main" id="{15FAB809-135A-5BED-9BC9-41A0BB12C937}"/>
              </a:ext>
            </a:extLst>
          </p:cNvPr>
          <p:cNvSpPr>
            <a:spLocks noGrp="1"/>
          </p:cNvSpPr>
          <p:nvPr>
            <p:ph idx="1"/>
          </p:nvPr>
        </p:nvSpPr>
        <p:spPr>
          <a:xfrm>
            <a:off x="1066800" y="1615752"/>
            <a:ext cx="10058400" cy="4267200"/>
          </a:xfrm>
        </p:spPr>
        <p:txBody>
          <a:bodyPr>
            <a:normAutofit/>
          </a:bodyPr>
          <a:lstStyle/>
          <a:p>
            <a:pPr marL="0" indent="0">
              <a:buNone/>
            </a:pPr>
            <a:r>
              <a:rPr lang="en-US" dirty="0"/>
              <a:t>The objective of the </a:t>
            </a:r>
            <a:r>
              <a:rPr lang="en-US" dirty="0" err="1"/>
              <a:t>Olist</a:t>
            </a:r>
            <a:r>
              <a:rPr lang="en-US" dirty="0"/>
              <a:t> Brazilian E-Commerce is to provide a comprehensive look at the Brazilian e-commerce landscape to identify business opportunities and optimize strategies for growth and efficiency. It offers detailed insights into customer behavior, product performance, sales trends, and operational aspects, allowing analysts to understand consumer preferences, improve customer retention, and pinpoint areas for expansion within the market. </a:t>
            </a:r>
          </a:p>
          <a:p>
            <a:pPr marL="0" indent="0">
              <a:buNone/>
            </a:pPr>
            <a:endParaRPr lang="en-US" dirty="0"/>
          </a:p>
          <a:p>
            <a:r>
              <a:rPr lang="en-US" dirty="0"/>
              <a:t>Analyze customer demographics, purchase frequency, and recency to segment customers and develop targeted marketing and engagement strategies. </a:t>
            </a:r>
          </a:p>
          <a:p>
            <a:r>
              <a:rPr lang="en-US" dirty="0"/>
              <a:t>Identify popular product categories and top-selling items to understand market demand and optimize product offerings. </a:t>
            </a:r>
          </a:p>
          <a:p>
            <a:r>
              <a:rPr lang="en-US" dirty="0"/>
              <a:t>Track monthly revenue, analyze revenue per product category, and identify top-performing states to understand financial performance and regional potential. </a:t>
            </a:r>
          </a:p>
          <a:p>
            <a:pPr marL="0" indent="0">
              <a:buNone/>
            </a:pPr>
            <a:endParaRPr lang="en-IN" dirty="0"/>
          </a:p>
        </p:txBody>
      </p:sp>
    </p:spTree>
    <p:extLst>
      <p:ext uri="{BB962C8B-B14F-4D97-AF65-F5344CB8AC3E}">
        <p14:creationId xmlns:p14="http://schemas.microsoft.com/office/powerpoint/2010/main" val="2668249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BED8F-5492-1104-431E-86F35D0B490C}"/>
              </a:ext>
            </a:extLst>
          </p:cNvPr>
          <p:cNvSpPr>
            <a:spLocks noGrp="1"/>
          </p:cNvSpPr>
          <p:nvPr>
            <p:ph type="title"/>
          </p:nvPr>
        </p:nvSpPr>
        <p:spPr>
          <a:xfrm>
            <a:off x="1066800" y="336220"/>
            <a:ext cx="10058400" cy="764792"/>
          </a:xfrm>
        </p:spPr>
        <p:txBody>
          <a:bodyPr/>
          <a:lstStyle/>
          <a:p>
            <a:pPr algn="ctr"/>
            <a:r>
              <a:rPr lang="en-IN" b="1" dirty="0"/>
              <a:t>DATA COLLECTION AND PREPARATION</a:t>
            </a:r>
          </a:p>
        </p:txBody>
      </p:sp>
      <p:sp>
        <p:nvSpPr>
          <p:cNvPr id="3" name="Content Placeholder 2">
            <a:extLst>
              <a:ext uri="{FF2B5EF4-FFF2-40B4-BE49-F238E27FC236}">
                <a16:creationId xmlns:a16="http://schemas.microsoft.com/office/drawing/2014/main" id="{AEA230D5-A76A-410B-6191-ECDA71978FCC}"/>
              </a:ext>
            </a:extLst>
          </p:cNvPr>
          <p:cNvSpPr>
            <a:spLocks noGrp="1"/>
          </p:cNvSpPr>
          <p:nvPr>
            <p:ph idx="1"/>
          </p:nvPr>
        </p:nvSpPr>
        <p:spPr>
          <a:xfrm>
            <a:off x="1066800" y="1427584"/>
            <a:ext cx="10316547" cy="4879910"/>
          </a:xfrm>
        </p:spPr>
        <p:txBody>
          <a:bodyPr>
            <a:normAutofit/>
          </a:bodyPr>
          <a:lstStyle/>
          <a:p>
            <a:pPr marL="0" indent="0">
              <a:buNone/>
            </a:pPr>
            <a:r>
              <a:rPr lang="en-IN" b="1" dirty="0"/>
              <a:t>DATA SOURCE DETAILS:</a:t>
            </a:r>
          </a:p>
          <a:p>
            <a:pPr>
              <a:buClr>
                <a:srgbClr val="C00000"/>
              </a:buClr>
            </a:pPr>
            <a:r>
              <a:rPr lang="en-IN" dirty="0"/>
              <a:t>Provided by : Team Leader Mr. B. Harish</a:t>
            </a:r>
          </a:p>
          <a:p>
            <a:pPr>
              <a:buClr>
                <a:srgbClr val="C00000"/>
              </a:buClr>
            </a:pPr>
            <a:r>
              <a:rPr lang="en-IN" dirty="0"/>
              <a:t>Date Received : 07 September 2025</a:t>
            </a:r>
          </a:p>
          <a:p>
            <a:pPr>
              <a:buClr>
                <a:srgbClr val="C00000"/>
              </a:buClr>
            </a:pPr>
            <a:r>
              <a:rPr lang="en-IN" dirty="0"/>
              <a:t>Delivery Method : Through Gmail.</a:t>
            </a:r>
          </a:p>
          <a:p>
            <a:pPr marL="0" indent="0">
              <a:buNone/>
            </a:pPr>
            <a:endParaRPr lang="en-IN" dirty="0"/>
          </a:p>
          <a:p>
            <a:pPr marL="0" indent="0">
              <a:buNone/>
            </a:pPr>
            <a:r>
              <a:rPr lang="en-IN" b="1" dirty="0"/>
              <a:t>DATA OVERVIEW:</a:t>
            </a:r>
          </a:p>
          <a:p>
            <a:pPr>
              <a:buClr>
                <a:srgbClr val="C00000"/>
              </a:buClr>
            </a:pPr>
            <a:r>
              <a:rPr lang="en-IN" dirty="0"/>
              <a:t>Format – Excel .CSV</a:t>
            </a:r>
          </a:p>
          <a:p>
            <a:pPr>
              <a:buClr>
                <a:srgbClr val="C00000"/>
              </a:buClr>
            </a:pPr>
            <a:r>
              <a:rPr lang="en-IN" dirty="0"/>
              <a:t>No. of Tables – 9</a:t>
            </a:r>
          </a:p>
          <a:p>
            <a:pPr>
              <a:buClr>
                <a:srgbClr val="C00000"/>
              </a:buClr>
            </a:pPr>
            <a:r>
              <a:rPr lang="en-IN" dirty="0"/>
              <a:t>Table Names: </a:t>
            </a:r>
            <a:r>
              <a:rPr lang="en-IN" dirty="0" err="1"/>
              <a:t>olist_customers_dataset</a:t>
            </a:r>
            <a:r>
              <a:rPr lang="en-IN" dirty="0"/>
              <a:t>, </a:t>
            </a:r>
            <a:r>
              <a:rPr lang="en-IN" dirty="0" err="1"/>
              <a:t>olist_geolocation_dataset</a:t>
            </a:r>
            <a:r>
              <a:rPr lang="en-IN" dirty="0"/>
              <a:t>, </a:t>
            </a:r>
            <a:r>
              <a:rPr lang="en-IN" dirty="0" err="1"/>
              <a:t>olist_order_items_dataset</a:t>
            </a:r>
            <a:r>
              <a:rPr lang="en-IN" dirty="0"/>
              <a:t>, </a:t>
            </a:r>
            <a:r>
              <a:rPr lang="en-IN" dirty="0" err="1"/>
              <a:t>olist_order_payments_dataset</a:t>
            </a:r>
            <a:r>
              <a:rPr lang="en-IN" dirty="0"/>
              <a:t>, </a:t>
            </a:r>
            <a:r>
              <a:rPr lang="en-IN" dirty="0" err="1"/>
              <a:t>olist_order_reviews_dataset</a:t>
            </a:r>
            <a:r>
              <a:rPr lang="en-IN" dirty="0"/>
              <a:t>, </a:t>
            </a:r>
            <a:r>
              <a:rPr lang="en-IN" dirty="0" err="1"/>
              <a:t>olist_orders_dataset</a:t>
            </a:r>
            <a:r>
              <a:rPr lang="en-IN" dirty="0"/>
              <a:t>, </a:t>
            </a:r>
            <a:r>
              <a:rPr lang="en-IN" dirty="0" err="1"/>
              <a:t>olist_products_dataset</a:t>
            </a:r>
            <a:r>
              <a:rPr lang="en-IN" dirty="0"/>
              <a:t>, </a:t>
            </a:r>
            <a:r>
              <a:rPr lang="en-IN" dirty="0" err="1"/>
              <a:t>olist_sellers_dataset</a:t>
            </a:r>
            <a:r>
              <a:rPr lang="en-IN" dirty="0"/>
              <a:t>, </a:t>
            </a:r>
            <a:r>
              <a:rPr lang="en-IN" dirty="0" err="1"/>
              <a:t>product_category_name_translati</a:t>
            </a:r>
            <a:endParaRPr lang="en-IN" dirty="0"/>
          </a:p>
        </p:txBody>
      </p:sp>
    </p:spTree>
    <p:extLst>
      <p:ext uri="{BB962C8B-B14F-4D97-AF65-F5344CB8AC3E}">
        <p14:creationId xmlns:p14="http://schemas.microsoft.com/office/powerpoint/2010/main" val="1230517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C118B5-815A-10B3-8010-2B66C2D36F63}"/>
              </a:ext>
            </a:extLst>
          </p:cNvPr>
          <p:cNvSpPr>
            <a:spLocks noGrp="1"/>
          </p:cNvSpPr>
          <p:nvPr>
            <p:ph idx="1"/>
          </p:nvPr>
        </p:nvSpPr>
        <p:spPr>
          <a:xfrm>
            <a:off x="1066800" y="475861"/>
            <a:ext cx="10058400" cy="5696340"/>
          </a:xfrm>
        </p:spPr>
        <p:txBody>
          <a:bodyPr>
            <a:normAutofit/>
          </a:bodyPr>
          <a:lstStyle/>
          <a:p>
            <a:pPr marL="0" indent="0">
              <a:buNone/>
            </a:pPr>
            <a:r>
              <a:rPr lang="en-IN" b="1" dirty="0"/>
              <a:t>DATA LINEAGE &amp; TRANSFORMATIONS:</a:t>
            </a:r>
          </a:p>
          <a:p>
            <a:pPr marL="0" indent="0">
              <a:buNone/>
            </a:pPr>
            <a:endParaRPr lang="en-IN" b="1" dirty="0"/>
          </a:p>
          <a:p>
            <a:pPr>
              <a:buClr>
                <a:srgbClr val="C00000"/>
              </a:buClr>
            </a:pPr>
            <a:r>
              <a:rPr lang="en-IN" dirty="0"/>
              <a:t>I have assigned proper data type of each and every columns.</a:t>
            </a:r>
          </a:p>
          <a:p>
            <a:pPr>
              <a:buClr>
                <a:srgbClr val="C00000"/>
              </a:buClr>
            </a:pPr>
            <a:r>
              <a:rPr lang="en-IN" dirty="0"/>
              <a:t>Removed Unwanted Columns.</a:t>
            </a:r>
          </a:p>
          <a:p>
            <a:pPr>
              <a:buClr>
                <a:srgbClr val="C00000"/>
              </a:buClr>
            </a:pPr>
            <a:r>
              <a:rPr lang="en-IN" dirty="0"/>
              <a:t>Added  Custom Calculated </a:t>
            </a:r>
            <a:r>
              <a:rPr lang="en-IN"/>
              <a:t>Columns.</a:t>
            </a:r>
            <a:endParaRPr lang="en-IN" dirty="0"/>
          </a:p>
          <a:p>
            <a:pPr>
              <a:buClr>
                <a:srgbClr val="C00000"/>
              </a:buClr>
            </a:pPr>
            <a:r>
              <a:rPr lang="en-IN" dirty="0"/>
              <a:t>I have done with merging the tables which consists all Product details.</a:t>
            </a:r>
          </a:p>
          <a:p>
            <a:pPr>
              <a:buClr>
                <a:srgbClr val="C00000"/>
              </a:buClr>
            </a:pPr>
            <a:r>
              <a:rPr lang="en-IN" dirty="0"/>
              <a:t>Created relationships between each and every tables.</a:t>
            </a:r>
          </a:p>
          <a:p>
            <a:pPr>
              <a:buClr>
                <a:srgbClr val="C00000"/>
              </a:buClr>
            </a:pPr>
            <a:r>
              <a:rPr lang="en-IN" dirty="0"/>
              <a:t>The type of Relationship is one to Many.</a:t>
            </a:r>
          </a:p>
          <a:p>
            <a:pPr>
              <a:buClr>
                <a:srgbClr val="C00000"/>
              </a:buClr>
            </a:pPr>
            <a:r>
              <a:rPr lang="en-IN" dirty="0"/>
              <a:t>Replaced Nulls in Measure Columns with 0.</a:t>
            </a:r>
          </a:p>
          <a:p>
            <a:pPr>
              <a:buClr>
                <a:srgbClr val="C00000"/>
              </a:buClr>
            </a:pPr>
            <a:r>
              <a:rPr lang="en-IN" dirty="0"/>
              <a:t>Replaced Nulls in dimension Columns with NA.</a:t>
            </a:r>
          </a:p>
        </p:txBody>
      </p:sp>
    </p:spTree>
    <p:extLst>
      <p:ext uri="{BB962C8B-B14F-4D97-AF65-F5344CB8AC3E}">
        <p14:creationId xmlns:p14="http://schemas.microsoft.com/office/powerpoint/2010/main" val="2034079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17290-06C0-61F1-B972-97C02E0AC045}"/>
              </a:ext>
            </a:extLst>
          </p:cNvPr>
          <p:cNvSpPr>
            <a:spLocks noGrp="1"/>
          </p:cNvSpPr>
          <p:nvPr>
            <p:ph type="title"/>
          </p:nvPr>
        </p:nvSpPr>
        <p:spPr>
          <a:xfrm>
            <a:off x="1066800" y="457518"/>
            <a:ext cx="10058400" cy="517530"/>
          </a:xfrm>
        </p:spPr>
        <p:txBody>
          <a:bodyPr>
            <a:noAutofit/>
          </a:bodyPr>
          <a:lstStyle/>
          <a:p>
            <a:pPr algn="ctr"/>
            <a:r>
              <a:rPr lang="en-IN" b="1" dirty="0"/>
              <a:t>TOOLS </a:t>
            </a:r>
          </a:p>
        </p:txBody>
      </p:sp>
      <p:sp>
        <p:nvSpPr>
          <p:cNvPr id="3" name="Content Placeholder 2">
            <a:extLst>
              <a:ext uri="{FF2B5EF4-FFF2-40B4-BE49-F238E27FC236}">
                <a16:creationId xmlns:a16="http://schemas.microsoft.com/office/drawing/2014/main" id="{60045589-869A-88D6-21E0-B098670F15E8}"/>
              </a:ext>
            </a:extLst>
          </p:cNvPr>
          <p:cNvSpPr>
            <a:spLocks noGrp="1"/>
          </p:cNvSpPr>
          <p:nvPr>
            <p:ph idx="1"/>
          </p:nvPr>
        </p:nvSpPr>
        <p:spPr>
          <a:xfrm>
            <a:off x="1066800" y="1373155"/>
            <a:ext cx="10058400" cy="4831701"/>
          </a:xfrm>
        </p:spPr>
        <p:txBody>
          <a:bodyPr/>
          <a:lstStyle/>
          <a:p>
            <a:pPr>
              <a:lnSpc>
                <a:spcPct val="150000"/>
              </a:lnSpc>
              <a:buClr>
                <a:srgbClr val="C00000"/>
              </a:buClr>
              <a:buFont typeface="Wingdings" panose="05000000000000000000" pitchFamily="2" charset="2"/>
              <a:buChar char="q"/>
            </a:pPr>
            <a:r>
              <a:rPr lang="en-IN" dirty="0"/>
              <a:t>Excel – Used for data cleaning in power query tab , create Relationships in power pivot and Finally For Data Visualization.</a:t>
            </a:r>
          </a:p>
          <a:p>
            <a:pPr>
              <a:lnSpc>
                <a:spcPct val="150000"/>
              </a:lnSpc>
              <a:buClr>
                <a:srgbClr val="C00000"/>
              </a:buClr>
              <a:buFont typeface="Wingdings" panose="05000000000000000000" pitchFamily="2" charset="2"/>
              <a:buChar char="q"/>
            </a:pPr>
            <a:r>
              <a:rPr lang="en-IN" dirty="0"/>
              <a:t>Power BI – A widely Used tool for Creating Data Visualization and get Hidden insights To improve the business.</a:t>
            </a:r>
          </a:p>
          <a:p>
            <a:pPr>
              <a:lnSpc>
                <a:spcPct val="150000"/>
              </a:lnSpc>
              <a:buClr>
                <a:srgbClr val="C00000"/>
              </a:buClr>
              <a:buFont typeface="Wingdings" panose="05000000000000000000" pitchFamily="2" charset="2"/>
              <a:buChar char="q"/>
            </a:pPr>
            <a:r>
              <a:rPr lang="en-IN" dirty="0"/>
              <a:t>SQL- </a:t>
            </a:r>
            <a:r>
              <a:rPr lang="en-US" dirty="0"/>
              <a:t>Data Retrieval and Extraction: SQL allows analysts to Query data bases and extract specific  subsets of data based on defined criteria.</a:t>
            </a:r>
          </a:p>
          <a:p>
            <a:pPr>
              <a:lnSpc>
                <a:spcPct val="150000"/>
              </a:lnSpc>
              <a:buClr>
                <a:srgbClr val="C00000"/>
              </a:buClr>
              <a:buFont typeface="Wingdings" panose="05000000000000000000" pitchFamily="2" charset="2"/>
              <a:buChar char="q"/>
            </a:pPr>
            <a:r>
              <a:rPr lang="en-US" dirty="0"/>
              <a:t>Tableau –  It is used to quickly transform complex data into easily understandable, interactive, and shareable visual dashboards and reports, which helps them discover trends, gain insights, and make data-driven business decisions. </a:t>
            </a:r>
          </a:p>
          <a:p>
            <a:pPr marL="0" indent="0">
              <a:buNone/>
            </a:pPr>
            <a:r>
              <a:rPr lang="en-US" dirty="0"/>
              <a:t>       </a:t>
            </a:r>
          </a:p>
          <a:p>
            <a:pPr marL="457200" indent="-457200">
              <a:buFont typeface="+mj-lt"/>
              <a:buAutoNum type="arabicPeriod"/>
            </a:pPr>
            <a:endParaRPr lang="en-US" dirty="0"/>
          </a:p>
          <a:p>
            <a:endParaRPr lang="en-US" dirty="0"/>
          </a:p>
          <a:p>
            <a:pPr marL="457200" indent="-457200">
              <a:buFont typeface="+mj-lt"/>
              <a:buAutoNum type="arabicPeriod"/>
            </a:pPr>
            <a:endParaRPr lang="en-IN" dirty="0"/>
          </a:p>
          <a:p>
            <a:pPr marL="457200" indent="-457200">
              <a:buFont typeface="+mj-lt"/>
              <a:buAutoNum type="arabicPeriod"/>
            </a:pPr>
            <a:endParaRPr lang="en-IN" dirty="0"/>
          </a:p>
          <a:p>
            <a:pPr marL="0" indent="0">
              <a:buNone/>
            </a:pPr>
            <a:endParaRPr lang="en-IN" dirty="0"/>
          </a:p>
        </p:txBody>
      </p:sp>
    </p:spTree>
    <p:extLst>
      <p:ext uri="{BB962C8B-B14F-4D97-AF65-F5344CB8AC3E}">
        <p14:creationId xmlns:p14="http://schemas.microsoft.com/office/powerpoint/2010/main" val="3582491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F1E7D-9417-65D2-3B11-5ADBAE351044}"/>
              </a:ext>
            </a:extLst>
          </p:cNvPr>
          <p:cNvSpPr>
            <a:spLocks noGrp="1"/>
          </p:cNvSpPr>
          <p:nvPr>
            <p:ph type="title"/>
          </p:nvPr>
        </p:nvSpPr>
        <p:spPr>
          <a:xfrm>
            <a:off x="852197" y="472490"/>
            <a:ext cx="10058400" cy="690147"/>
          </a:xfrm>
        </p:spPr>
        <p:txBody>
          <a:bodyPr>
            <a:normAutofit/>
          </a:bodyPr>
          <a:lstStyle/>
          <a:p>
            <a:pPr algn="ctr"/>
            <a:r>
              <a:rPr lang="en-IN" b="1" dirty="0"/>
              <a:t>RELATIONSHIP BETWEEN TABLES</a:t>
            </a:r>
          </a:p>
        </p:txBody>
      </p:sp>
      <p:pic>
        <p:nvPicPr>
          <p:cNvPr id="7" name="Content Placeholder 6">
            <a:extLst>
              <a:ext uri="{FF2B5EF4-FFF2-40B4-BE49-F238E27FC236}">
                <a16:creationId xmlns:a16="http://schemas.microsoft.com/office/drawing/2014/main" id="{CBABF2C0-F5E8-2713-5E4C-58972CEF745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2389" y="1405719"/>
            <a:ext cx="10228208" cy="5145205"/>
          </a:xfrm>
        </p:spPr>
      </p:pic>
    </p:spTree>
    <p:extLst>
      <p:ext uri="{BB962C8B-B14F-4D97-AF65-F5344CB8AC3E}">
        <p14:creationId xmlns:p14="http://schemas.microsoft.com/office/powerpoint/2010/main" val="359528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E14AC-87D3-031C-56B6-805E8D694AA3}"/>
              </a:ext>
            </a:extLst>
          </p:cNvPr>
          <p:cNvSpPr>
            <a:spLocks noGrp="1"/>
          </p:cNvSpPr>
          <p:nvPr>
            <p:ph type="title"/>
          </p:nvPr>
        </p:nvSpPr>
        <p:spPr>
          <a:xfrm>
            <a:off x="1001486" y="261576"/>
            <a:ext cx="10058400" cy="494203"/>
          </a:xfrm>
        </p:spPr>
        <p:txBody>
          <a:bodyPr>
            <a:noAutofit/>
          </a:bodyPr>
          <a:lstStyle/>
          <a:p>
            <a:pPr algn="ctr"/>
            <a:r>
              <a:rPr lang="en-IN" b="1" dirty="0"/>
              <a:t>DASHBOARD DESIGNS-EXCEL DASHBOARD</a:t>
            </a:r>
          </a:p>
        </p:txBody>
      </p:sp>
      <p:pic>
        <p:nvPicPr>
          <p:cNvPr id="6" name="Content Placeholder 5">
            <a:extLst>
              <a:ext uri="{FF2B5EF4-FFF2-40B4-BE49-F238E27FC236}">
                <a16:creationId xmlns:a16="http://schemas.microsoft.com/office/drawing/2014/main" id="{DE339AB3-E893-6AB6-36E5-4357E91D064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1027" y="1091822"/>
            <a:ext cx="11259173" cy="5295330"/>
          </a:xfrm>
        </p:spPr>
      </p:pic>
    </p:spTree>
    <p:extLst>
      <p:ext uri="{BB962C8B-B14F-4D97-AF65-F5344CB8AC3E}">
        <p14:creationId xmlns:p14="http://schemas.microsoft.com/office/powerpoint/2010/main" val="2434483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EBD12-7A24-D7C3-9E12-766400392A88}"/>
              </a:ext>
            </a:extLst>
          </p:cNvPr>
          <p:cNvSpPr>
            <a:spLocks noGrp="1"/>
          </p:cNvSpPr>
          <p:nvPr>
            <p:ph type="title"/>
          </p:nvPr>
        </p:nvSpPr>
        <p:spPr>
          <a:xfrm>
            <a:off x="1066800" y="345551"/>
            <a:ext cx="10058400" cy="503535"/>
          </a:xfrm>
        </p:spPr>
        <p:txBody>
          <a:bodyPr>
            <a:noAutofit/>
          </a:bodyPr>
          <a:lstStyle/>
          <a:p>
            <a:pPr algn="ctr"/>
            <a:r>
              <a:rPr lang="en-IN" b="1" dirty="0"/>
              <a:t>TABLEAU DASHBOARD</a:t>
            </a:r>
          </a:p>
        </p:txBody>
      </p:sp>
      <p:pic>
        <p:nvPicPr>
          <p:cNvPr id="7" name="Content Placeholder 6">
            <a:extLst>
              <a:ext uri="{FF2B5EF4-FFF2-40B4-BE49-F238E27FC236}">
                <a16:creationId xmlns:a16="http://schemas.microsoft.com/office/drawing/2014/main" id="{63659365-8821-FD5A-ABCC-3A6A7C1B235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9433" y="1091822"/>
            <a:ext cx="11460592" cy="5470642"/>
          </a:xfrm>
        </p:spPr>
      </p:pic>
    </p:spTree>
    <p:extLst>
      <p:ext uri="{BB962C8B-B14F-4D97-AF65-F5344CB8AC3E}">
        <p14:creationId xmlns:p14="http://schemas.microsoft.com/office/powerpoint/2010/main" val="674256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20B95-3629-C194-ACAF-598423D83480}"/>
              </a:ext>
            </a:extLst>
          </p:cNvPr>
          <p:cNvSpPr>
            <a:spLocks noGrp="1"/>
          </p:cNvSpPr>
          <p:nvPr>
            <p:ph type="title"/>
          </p:nvPr>
        </p:nvSpPr>
        <p:spPr>
          <a:xfrm>
            <a:off x="805543" y="158939"/>
            <a:ext cx="10058400" cy="550188"/>
          </a:xfrm>
        </p:spPr>
        <p:txBody>
          <a:bodyPr>
            <a:noAutofit/>
          </a:bodyPr>
          <a:lstStyle/>
          <a:p>
            <a:pPr algn="ctr"/>
            <a:r>
              <a:rPr lang="en-IN" b="1" dirty="0"/>
              <a:t>POWER BI DASHBOARD OVERVIEW</a:t>
            </a:r>
          </a:p>
        </p:txBody>
      </p:sp>
      <p:pic>
        <p:nvPicPr>
          <p:cNvPr id="7" name="Content Placeholder 6">
            <a:extLst>
              <a:ext uri="{FF2B5EF4-FFF2-40B4-BE49-F238E27FC236}">
                <a16:creationId xmlns:a16="http://schemas.microsoft.com/office/drawing/2014/main" id="{46BAF40C-D1A1-1E50-C05B-071FA59F818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9433" y="873457"/>
            <a:ext cx="11245755" cy="5715880"/>
          </a:xfrm>
        </p:spPr>
      </p:pic>
    </p:spTree>
    <p:extLst>
      <p:ext uri="{BB962C8B-B14F-4D97-AF65-F5344CB8AC3E}">
        <p14:creationId xmlns:p14="http://schemas.microsoft.com/office/powerpoint/2010/main" val="558563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8357A-A56C-D404-6F4C-B73D5D1B4435}"/>
              </a:ext>
            </a:extLst>
          </p:cNvPr>
          <p:cNvSpPr>
            <a:spLocks noGrp="1"/>
          </p:cNvSpPr>
          <p:nvPr>
            <p:ph type="title"/>
          </p:nvPr>
        </p:nvSpPr>
        <p:spPr>
          <a:xfrm>
            <a:off x="908180" y="200925"/>
            <a:ext cx="10058400" cy="484874"/>
          </a:xfrm>
        </p:spPr>
        <p:txBody>
          <a:bodyPr>
            <a:normAutofit fontScale="90000"/>
          </a:bodyPr>
          <a:lstStyle/>
          <a:p>
            <a:pPr algn="ctr"/>
            <a:r>
              <a:rPr lang="en-IN" b="1" dirty="0"/>
              <a:t>SQL QUERIES</a:t>
            </a:r>
          </a:p>
        </p:txBody>
      </p:sp>
      <p:pic>
        <p:nvPicPr>
          <p:cNvPr id="7" name="Content Placeholder 6">
            <a:extLst>
              <a:ext uri="{FF2B5EF4-FFF2-40B4-BE49-F238E27FC236}">
                <a16:creationId xmlns:a16="http://schemas.microsoft.com/office/drawing/2014/main" id="{AB1E9238-CD1E-18EB-1EC5-09BDB69108B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93584" y="685799"/>
            <a:ext cx="7087589" cy="3105583"/>
          </a:xfrm>
        </p:spPr>
      </p:pic>
      <p:pic>
        <p:nvPicPr>
          <p:cNvPr id="9" name="Picture 8">
            <a:extLst>
              <a:ext uri="{FF2B5EF4-FFF2-40B4-BE49-F238E27FC236}">
                <a16:creationId xmlns:a16="http://schemas.microsoft.com/office/drawing/2014/main" id="{80DFEF9B-43DB-3FC0-21FC-C6727A59AD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31664" y="3791382"/>
            <a:ext cx="7211431" cy="2867425"/>
          </a:xfrm>
          <a:prstGeom prst="rect">
            <a:avLst/>
          </a:prstGeom>
        </p:spPr>
      </p:pic>
    </p:spTree>
    <p:extLst>
      <p:ext uri="{BB962C8B-B14F-4D97-AF65-F5344CB8AC3E}">
        <p14:creationId xmlns:p14="http://schemas.microsoft.com/office/powerpoint/2010/main" val="1879127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5409FED0-8716-CD7A-D672-34765700D23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55763" y="0"/>
            <a:ext cx="6894835" cy="3168145"/>
          </a:xfrm>
        </p:spPr>
      </p:pic>
      <p:pic>
        <p:nvPicPr>
          <p:cNvPr id="8" name="Picture 7">
            <a:extLst>
              <a:ext uri="{FF2B5EF4-FFF2-40B4-BE49-F238E27FC236}">
                <a16:creationId xmlns:a16="http://schemas.microsoft.com/office/drawing/2014/main" id="{E15AFF91-AB9C-44D2-0385-83A9069DB3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466" y="3095578"/>
            <a:ext cx="5639241" cy="3629532"/>
          </a:xfrm>
          <a:prstGeom prst="rect">
            <a:avLst/>
          </a:prstGeom>
        </p:spPr>
      </p:pic>
      <p:pic>
        <p:nvPicPr>
          <p:cNvPr id="10" name="Picture 9">
            <a:extLst>
              <a:ext uri="{FF2B5EF4-FFF2-40B4-BE49-F238E27FC236}">
                <a16:creationId xmlns:a16="http://schemas.microsoft.com/office/drawing/2014/main" id="{3EE47505-5DEA-33E6-0B1E-EA68F4F080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45707" y="3147704"/>
            <a:ext cx="6354189" cy="3577405"/>
          </a:xfrm>
          <a:prstGeom prst="rect">
            <a:avLst/>
          </a:prstGeom>
        </p:spPr>
      </p:pic>
    </p:spTree>
    <p:extLst>
      <p:ext uri="{BB962C8B-B14F-4D97-AF65-F5344CB8AC3E}">
        <p14:creationId xmlns:p14="http://schemas.microsoft.com/office/powerpoint/2010/main" val="2761657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CherryBlossom">
      <a:dk1>
        <a:srgbClr val="595959"/>
      </a:dk1>
      <a:lt1>
        <a:sysClr val="window" lastClr="FFFFFF"/>
      </a:lt1>
      <a:dk2>
        <a:srgbClr val="000000"/>
      </a:dk2>
      <a:lt2>
        <a:srgbClr val="F6F7E4"/>
      </a:lt2>
      <a:accent1>
        <a:srgbClr val="C44475"/>
      </a:accent1>
      <a:accent2>
        <a:srgbClr val="FA906A"/>
      </a:accent2>
      <a:accent3>
        <a:srgbClr val="FCB268"/>
      </a:accent3>
      <a:accent4>
        <a:srgbClr val="DB6B70"/>
      </a:accent4>
      <a:accent5>
        <a:srgbClr val="D680A5"/>
      </a:accent5>
      <a:accent6>
        <a:srgbClr val="BA7362"/>
      </a:accent6>
      <a:hlink>
        <a:srgbClr val="DB6B70"/>
      </a:hlink>
      <a:folHlink>
        <a:srgbClr val="969696"/>
      </a:folHlink>
    </a:clrScheme>
    <a:fontScheme name="Cambria">
      <a:maj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CherryBlossom">
      <a:dk1>
        <a:srgbClr val="595959"/>
      </a:dk1>
      <a:lt1>
        <a:sysClr val="window" lastClr="FFFFFF"/>
      </a:lt1>
      <a:dk2>
        <a:srgbClr val="000000"/>
      </a:dk2>
      <a:lt2>
        <a:srgbClr val="F6F7E4"/>
      </a:lt2>
      <a:accent1>
        <a:srgbClr val="C44475"/>
      </a:accent1>
      <a:accent2>
        <a:srgbClr val="FA906A"/>
      </a:accent2>
      <a:accent3>
        <a:srgbClr val="FCB268"/>
      </a:accent3>
      <a:accent4>
        <a:srgbClr val="DB6B70"/>
      </a:accent4>
      <a:accent5>
        <a:srgbClr val="D680A5"/>
      </a:accent5>
      <a:accent6>
        <a:srgbClr val="BA7362"/>
      </a:accent6>
      <a:hlink>
        <a:srgbClr val="DB6B70"/>
      </a:hlink>
      <a:folHlink>
        <a:srgbClr val="969696"/>
      </a:folHlink>
    </a:clrScheme>
    <a:fontScheme name="Cambria">
      <a:maj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915</TotalTime>
  <Words>596</Words>
  <Application>Microsoft Office PowerPoint</Application>
  <PresentationFormat>Widescreen</PresentationFormat>
  <Paragraphs>47</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Algerian</vt:lpstr>
      <vt:lpstr>Arial</vt:lpstr>
      <vt:lpstr>Calibri</vt:lpstr>
      <vt:lpstr>Cambria</vt:lpstr>
      <vt:lpstr>Trebuchet MS</vt:lpstr>
      <vt:lpstr>Wingdings</vt:lpstr>
      <vt:lpstr>Wingdings 3</vt:lpstr>
      <vt:lpstr>Facet</vt:lpstr>
      <vt:lpstr>OLIST STORE ANALYSIS</vt:lpstr>
      <vt:lpstr>INTRODUCTION</vt:lpstr>
      <vt:lpstr>OBJECTIVE</vt:lpstr>
      <vt:lpstr>DATA COLLECTION AND PREPARATION</vt:lpstr>
      <vt:lpstr>PowerPoint Presentation</vt:lpstr>
      <vt:lpstr>TOOLS </vt:lpstr>
      <vt:lpstr>RELATIONSHIP BETWEEN TABLES</vt:lpstr>
      <vt:lpstr>DASHBOARD DESIGNS-EXCEL DASHBOARD</vt:lpstr>
      <vt:lpstr>TABLEAU DASHBOARD</vt:lpstr>
      <vt:lpstr>POWER BI DASHBOARD OVERVIEW</vt:lpstr>
      <vt:lpstr>SQL QUERIES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SHAIK SHAHINA</dc:creator>
  <cp:lastModifiedBy>Shabdajit Lawhare</cp:lastModifiedBy>
  <cp:revision>12</cp:revision>
  <dcterms:created xsi:type="dcterms:W3CDTF">2025-08-24T08:39:58Z</dcterms:created>
  <dcterms:modified xsi:type="dcterms:W3CDTF">2025-11-14T17:06:36Z</dcterms:modified>
</cp:coreProperties>
</file>